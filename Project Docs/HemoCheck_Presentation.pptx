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53153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4114800" cy="4114800"/>
          </a:xfrm>
          <a:prstGeom prst="ellipse">
            <a:avLst/>
          </a:prstGeom>
          <a:solidFill>
            <a:srgbClr val="53153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777240" cy="77724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5" name="Image 0" descr="icons/t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99" y="86067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HEMOCHECK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Anemia Prediction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CBC Blood Reports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" y="4343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machine learning web application that predicts anemia risk instantly from Complete Blood Count values — built with Flask, scikit-learn, and a Random Forest classifier.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PRESENTATION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Flask  •  Healthcare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Anemia is common, often silent, and easy to miss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Anemia occurs when the blood lacks enough healthy red blood cells or hemoglobin to carry adequate oxygen to the body's tissues.</a:t>
            </a:r>
            <a:endParaRPr lang="en-US" sz="1400" dirty="0"/>
          </a:p>
          <a:p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relies on manually reading multiple CBC values — Hemoglobin, RBC, HCT, MCV, MCH, MCHC — and cross-checking them against reference ranges.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is slow, requires clinical expertise, and delays early detection — especially in low-resource settings.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7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93852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Billion+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778240" y="19385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 by anemia worldwide (WHO)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32004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7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331012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778240" y="33101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of reproductive age affected globally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572000"/>
            <a:ext cx="5257800" cy="1143000"/>
          </a:xfrm>
          <a:prstGeom prst="roundRect">
            <a:avLst>
              <a:gd name="adj" fmla="val 6400"/>
            </a:avLst>
          </a:prstGeom>
          <a:solidFill>
            <a:srgbClr val="F7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681728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778240" y="46817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manual CBC interpretation per 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HemoCheck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7F1F3"/>
          </a:solidFill>
          <a:ln/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7A1F3D"/>
          </a:solidFill>
          <a:ln/>
        </p:spPr>
      </p:sp>
      <p:pic>
        <p:nvPicPr>
          <p:cNvPr id="6" name="Image 0" descr="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337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reliable classifier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1605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that distinguishes anemic vs. healthy patients from 10 standard CBC parameters.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9202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7F1F3"/>
          </a:solidFill>
          <a:ln/>
        </p:spPr>
      </p:sp>
      <p:sp>
        <p:nvSpPr>
          <p:cNvPr id="10" name="Shape 7"/>
          <p:cNvSpPr/>
          <p:nvPr/>
        </p:nvSpPr>
        <p:spPr>
          <a:xfrm>
            <a:off x="4302252" y="2286000"/>
            <a:ext cx="822960" cy="822960"/>
          </a:xfrm>
          <a:prstGeom prst="ellipse">
            <a:avLst/>
          </a:prstGeom>
          <a:solidFill>
            <a:srgbClr val="7A1F3D"/>
          </a:solidFill>
          <a:ln/>
        </p:spPr>
      </p:sp>
      <p:pic>
        <p:nvPicPr>
          <p:cNvPr id="11" name="Image 1" descr="icons/lapto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4917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3337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 a usable web app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41605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clean Flask + JS interface anyone can use without installing anything.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9202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7F1F3"/>
          </a:solidFill>
          <a:ln/>
        </p:spPr>
      </p:sp>
      <p:sp>
        <p:nvSpPr>
          <p:cNvPr id="15" name="Shape 11"/>
          <p:cNvSpPr/>
          <p:nvPr/>
        </p:nvSpPr>
        <p:spPr>
          <a:xfrm>
            <a:off x="7164324" y="2286000"/>
            <a:ext cx="822960" cy="822960"/>
          </a:xfrm>
          <a:prstGeom prst="ellipse">
            <a:avLst/>
          </a:prstGeom>
          <a:solidFill>
            <a:srgbClr val="7A1F3D"/>
          </a:solidFill>
          <a:ln/>
        </p:spPr>
      </p:sp>
      <p:pic>
        <p:nvPicPr>
          <p:cNvPr id="16" name="Image 2" descr="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4" y="24917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3337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actionable output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01384" y="41605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not just a label, but confidence, health status, and personalized precautions.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9202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7F1F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26396" y="2286000"/>
            <a:ext cx="822960" cy="822960"/>
          </a:xfrm>
          <a:prstGeom prst="ellipse">
            <a:avLst/>
          </a:prstGeom>
          <a:solidFill>
            <a:srgbClr val="7A1F3D"/>
          </a:solidFill>
          <a:ln/>
        </p:spPr>
      </p:sp>
      <p:pic>
        <p:nvPicPr>
          <p:cNvPr id="21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4917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3375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inputs safely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63456" y="41605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physiologically valid ranges server-side before any value reaches the model.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DC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423160"/>
            <a:ext cx="731520" cy="731520"/>
          </a:xfrm>
          <a:prstGeom prst="ellipse">
            <a:avLst/>
          </a:prstGeom>
          <a:solidFill>
            <a:srgbClr val="E7F1F2"/>
          </a:solidFill>
          <a:ln/>
        </p:spPr>
      </p:sp>
      <p:pic>
        <p:nvPicPr>
          <p:cNvPr id="6" name="Image 0" descr="icons/mobi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5877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enters CBC values in a validated form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17520" y="3154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37560" y="210312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DC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60520" y="2423160"/>
            <a:ext cx="731520" cy="731520"/>
          </a:xfrm>
          <a:prstGeom prst="ellipse">
            <a:avLst/>
          </a:prstGeom>
          <a:solidFill>
            <a:srgbClr val="E7F1F2"/>
          </a:solidFill>
          <a:ln/>
        </p:spPr>
      </p:sp>
      <p:pic>
        <p:nvPicPr>
          <p:cNvPr id="12" name="Image 1" descr="icons/serve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5877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 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requests, validates ranges, calls the model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15000" y="3154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035040" y="210312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DC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58000" y="2423160"/>
            <a:ext cx="731520" cy="731520"/>
          </a:xfrm>
          <a:prstGeom prst="ellipse">
            <a:avLst/>
          </a:prstGeom>
          <a:solidFill>
            <a:srgbClr val="E7F1F2"/>
          </a:solidFill>
          <a:ln/>
        </p:spPr>
      </p:sp>
      <p:pic>
        <p:nvPicPr>
          <p:cNvPr id="18" name="Image 2" descr="icons/brain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258775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1792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RandomForestClassifier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12480" y="31546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8732520" y="2103120"/>
            <a:ext cx="2377440" cy="28346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DCE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55480" y="2423160"/>
            <a:ext cx="731520" cy="731520"/>
          </a:xfrm>
          <a:prstGeom prst="ellipse">
            <a:avLst/>
          </a:prstGeom>
          <a:solidFill>
            <a:srgbClr val="E7F1F2"/>
          </a:solidFill>
          <a:ln/>
        </p:spPr>
      </p:sp>
      <p:pic>
        <p:nvPicPr>
          <p:cNvPr id="24" name="Image 3" descr="icons/clipboard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0072" y="258775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6968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915400" y="37490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confidence, diet &amp; doctor advice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40080" y="5394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the browser POSTs CBC values as JSON to /api/predict; Flask scales them with the fitted StandardScaler, runs the RandomForest, and returns a structured recommendation payload.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clinically-grounded synthetic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samples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with gender-specific normal distributions mimicking real hematology reference intervals — half healthy, half anemic (mild / moderate / severe).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CBC features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Hemoglobin, RBC, WBC, HCT, MCV, MCH, MCHC, Platelets.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noise &amp; clipping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bounds enforced (e.g. Hemoglobin 3–20 g/dL) so the model learns genuine multivariate patterns, not a single threshold.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35040" y="1874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0" y="1874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41080" y="18745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8" name="Text 6"/>
          <p:cNvSpPr/>
          <p:nvPr/>
        </p:nvSpPr>
        <p:spPr>
          <a:xfrm>
            <a:off x="8641080" y="1874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27889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788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41080" y="27889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2788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37033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41080" y="37033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37033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4617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4617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41080" y="46177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20" name="Text 18"/>
          <p:cNvSpPr/>
          <p:nvPr/>
        </p:nvSpPr>
        <p:spPr>
          <a:xfrm>
            <a:off x="8641080" y="46177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35040" y="55321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5532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MCHC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41080" y="55321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7F1F3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5532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286000"/>
            <a:ext cx="5486400" cy="5486400"/>
          </a:xfrm>
          <a:prstGeom prst="ellipse">
            <a:avLst/>
          </a:prstGeom>
          <a:solidFill>
            <a:srgbClr val="531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classifier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19659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split, random_state=42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175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30175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training features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690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406908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40690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— 300 trees, max_depth=10, class_weight='balanced'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120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C9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51206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20440" y="512064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scaler + feature order serialized together into model.pkl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21040" y="1965960"/>
            <a:ext cx="3291840" cy="4114800"/>
          </a:xfrm>
          <a:prstGeom prst="roundRect">
            <a:avLst>
              <a:gd name="adj" fmla="val 2778"/>
            </a:avLst>
          </a:prstGeom>
          <a:solidFill>
            <a:srgbClr val="FFFFFF">
              <a:alpha val="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240280"/>
            <a:ext cx="731520" cy="731520"/>
          </a:xfrm>
          <a:prstGeom prst="ellipse">
            <a:avLst/>
          </a:prstGeom>
          <a:solidFill>
            <a:srgbClr val="FFFFFF">
              <a:alpha val="13000"/>
            </a:srgbClr>
          </a:solidFill>
          <a:ln/>
        </p:spPr>
      </p:sp>
      <p:pic>
        <p:nvPicPr>
          <p:cNvPr id="23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2" y="2404872"/>
            <a:ext cx="402336" cy="4023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4964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49640" y="370332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relationships between CBC values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noisy, correlated features (e.g. Hb &amp; HCT)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 via ensembling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reports class-probability confidence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performance on held-out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7A1F3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1,200 held-out samples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(1,200 / 6,000 total, 20% split)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828800"/>
          <a:ext cx="7132320" cy="1645920"/>
        </p:xfrm>
        <a:graphic>
          <a:graphicData uri="http://schemas.openxmlformats.org/drawingml/2006/table">
            <a:tbl>
              <a:tblPr/>
              <a:tblGrid>
                <a:gridCol w="2377440"/>
                <a:gridCol w="1581912"/>
                <a:gridCol w="1581912"/>
                <a:gridCol w="15819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E7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Anemia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Anemia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343400" y="3657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600 samples per class in the test set (perfectly balanced via stratified split).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42519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7F1F3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4572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46908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class_weight='balanced'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257800" y="4754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precision/recall symmetric across classes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01000" y="4251960"/>
            <a:ext cx="3429000" cy="1234440"/>
          </a:xfrm>
          <a:prstGeom prst="roundRect">
            <a:avLst>
              <a:gd name="adj" fmla="val 7407"/>
            </a:avLst>
          </a:prstGeom>
          <a:solidFill>
            <a:srgbClr val="F7F1F3"/>
          </a:solidFill>
          <a:ln/>
        </p:spPr>
      </p:sp>
      <p:sp>
        <p:nvSpPr>
          <p:cNvPr id="16" name="Shape 12"/>
          <p:cNvSpPr/>
          <p:nvPr/>
        </p:nvSpPr>
        <p:spPr>
          <a:xfrm>
            <a:off x="8183880" y="457200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icons/chartbar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69087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915400" y="47548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alongside every prediction via predict_proba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symptoms form to a clear verdict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heartbeat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23385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34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anemia education, feature highlights, and how-it-works walkthrough.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clipboard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78" y="23385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Form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834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+ server-side validated CBC input form with live feedback.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search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898" y="233857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Result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28346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label, % confidence, and health status rendered immediately.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icons/apple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58" y="435025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Diet Guidance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846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diet tips and precautions based on the prediction.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5196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25" name="Shape 19"/>
          <p:cNvSpPr/>
          <p:nvPr/>
        </p:nvSpPr>
        <p:spPr>
          <a:xfrm>
            <a:off x="448056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doctor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578" y="435025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Advice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4846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recommendation on when to consult a physician.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39776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7F1F3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4206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icons/mobile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898" y="4350258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41605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UI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83880" y="4846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 with animated, accessible components.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 JSON contract for other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77240" cy="384048"/>
          </a:xfrm>
          <a:prstGeom prst="roundRect">
            <a:avLst>
              <a:gd name="adj" fmla="val 14286"/>
            </a:avLst>
          </a:prstGeom>
          <a:solidFill>
            <a:srgbClr val="1B6E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/api/predict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E1B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84632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28,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"Gender": 1,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"Hemoglobin": 13.5,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"RBC": 4.8,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"WBC": 7.2,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"HCT": 41,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"MCV": 88,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"MCH": 29,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"MCHC": 33,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"Platelets": 270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42316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E1B24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50292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"success": true,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"prediction": "No Anemia",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"anemia_detected": false,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97.4,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"health_status": "Normal",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"recommendations": {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"precautions": [ "..." 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"diet": [ "..." 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"doctor_advice": "..."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9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Gender: 1 = Male, 0 = Female. All 10 fields are required and range-checked before scaling.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531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fast, accessible screening layer —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replacement for diagnosis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BD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HemoCheck shows that a handful of routine CBC values are enough for a Random Forest model to flag anemia risk with 99.5% test accuracy — wrapped in an interface anyone can use in under a minute.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C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76472"/>
            <a:ext cx="109728" cy="109728"/>
          </a:xfrm>
          <a:prstGeom prst="ellipse">
            <a:avLst/>
          </a:prstGeom>
          <a:solidFill>
            <a:srgbClr val="F4C9D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6301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real, clinically-licensed CBC datasets for production use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F4C9D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330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anemia subtype (iron-deficiency, aplastic, hemolytic, etc.)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782312"/>
            <a:ext cx="109728" cy="109728"/>
          </a:xfrm>
          <a:prstGeom prst="ellipse">
            <a:avLst/>
          </a:prstGeom>
          <a:solidFill>
            <a:srgbClr val="F4C9D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63600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accounts to track hemoglobin trends over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285232"/>
            <a:ext cx="109728" cy="109728"/>
          </a:xfrm>
          <a:prstGeom prst="ellipse">
            <a:avLst/>
          </a:prstGeom>
          <a:solidFill>
            <a:srgbClr val="F4C9D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138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mobile app for community health workers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is for informational purposes only and is not a substitute for professional medical diagnosis.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2026-07-10T05:27:46Z</dcterms:created>
  <dcterms:modified xsi:type="dcterms:W3CDTF">2026-07-10T05:27:46Z</dcterms:modified>
</cp:coreProperties>
</file>